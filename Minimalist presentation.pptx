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93" r:id="rId6"/>
    <p:sldId id="292" r:id="rId7"/>
    <p:sldId id="258" r:id="rId8"/>
    <p:sldId id="286" r:id="rId9"/>
    <p:sldId id="287" r:id="rId10"/>
    <p:sldId id="288" r:id="rId11"/>
    <p:sldId id="289" r:id="rId12"/>
    <p:sldId id="290" r:id="rId13"/>
    <p:sldId id="291" r:id="rId14"/>
    <p:sldId id="294" r:id="rId15"/>
    <p:sldId id="257" r:id="rId16"/>
    <p:sldId id="27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0655" autoAdjust="0"/>
  </p:normalViewPr>
  <p:slideViewPr>
    <p:cSldViewPr snapToGrid="0">
      <p:cViewPr varScale="1">
        <p:scale>
          <a:sx n="105" d="100"/>
          <a:sy n="105" d="100"/>
        </p:scale>
        <p:origin x="660" y="102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6/30/2025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6/30/2025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9505B-7827-5711-C852-4ED6317B0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79556-280F-2AFA-E26F-868E23CE4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3D49D-C3C5-8991-4CAE-A82143E64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F1BEA-9289-CABD-D358-BEF8ECEAB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523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B5B32-CED0-EEBC-FD20-EFFEBE9D3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E998F0-9CC6-439F-F408-5525BA730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30264-3BF1-7236-FEB8-1E693D409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4AEFE-0437-7990-3AB6-3738DC579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57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62C0E-80CE-3209-5B9B-65B8ABEAF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B7FCE-98D7-D727-74AE-416D960F7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33722E-2046-EBCA-AF56-3D5C12D1AF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37A8C-ACBC-49D2-3651-DE719D06D8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103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82206-A2A7-A68E-36AF-8CDE6AA2D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592B67-6FE6-466C-7A7A-515839EAE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8ACAEA-B555-5610-9962-B1CF52E49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85B31-FBD1-199A-670D-875BE25F8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444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51E46-5952-D8E9-62E7-3BABA5D2B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21D2C0-3756-55A1-104A-370BFB7B2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2E6D3F-F94B-BADD-1608-AE152088C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66754-75B8-12EF-8E1E-DF159E8B6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5626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13D13-3596-71C9-388D-D8A170CB2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524CB-D992-EBEA-4108-9E05AECE9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5BBC1-2D35-F832-EEF8-47B40DAC5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6FE6C-78E2-CBBD-9C08-23049D684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030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3ABA4-9EFC-A09F-7E23-FCE903200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5F66B2-B585-A0E5-E6C0-6B76936C2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1B152F-33C2-667E-8E12-61FB1B585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8B486-0986-F17D-F2B9-040BD64DEC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987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C6625-C471-A862-6C2F-7305C5FEC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28D49-D258-4A4D-A139-70B26B5E3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9E548-9A4E-9E03-8981-8F6CBDFA3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76A52-C987-C6BB-5E10-54EA936D7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7611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209D6-6199-20A9-B720-8FE918031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E4E6D-5604-2C4A-ED9F-65FBD8D7B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391D19-1CCA-D98D-EB3B-7C6394257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A4F56-27D8-C0EE-B5F9-CEC12106C5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0758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oftware_engineeri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en.wikipedia.org/wiki/Business_processes" TargetMode="External"/><Relationship Id="rId4" Type="http://schemas.openxmlformats.org/officeDocument/2006/relationships/hyperlink" Target="https://en.wikipedia.org/wiki/Project_managemen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sz="2400" dirty="0"/>
              <a:t>Performance Optimization </a:t>
            </a:r>
            <a:r>
              <a:rPr lang="en-US" sz="1000" dirty="0"/>
              <a:t>(database query)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A5DC9-FA0C-5207-6452-5541F4CE7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7F608-0963-0810-5982-5F0E7BBA4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94779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83133B-4D02-64F3-0161-FB184A98B7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717657" y="2131631"/>
            <a:ext cx="6756686" cy="2414154"/>
          </a:xfr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4804657-07E5-6BB8-AB4B-5863B8FB7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737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E34E3-BA15-B65F-EAFA-6CD6C3ECB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6687D-A5FD-F082-AF24-11CFCA47F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947792"/>
          </a:xfrm>
        </p:spPr>
        <p:txBody>
          <a:bodyPr>
            <a:normAutofit/>
          </a:bodyPr>
          <a:lstStyle/>
          <a:p>
            <a:r>
              <a:rPr lang="en-US" dirty="0"/>
              <a:t>Index creation decision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9FEB2-F6AE-AE39-C85B-3ECAFFC4F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18" y="2058991"/>
            <a:ext cx="3972058" cy="2238690"/>
          </a:xfrm>
        </p:spPr>
        <p:txBody>
          <a:bodyPr>
            <a:normAutofit/>
          </a:bodyPr>
          <a:lstStyle/>
          <a:p>
            <a:r>
              <a:rPr lang="en-US" sz="1600" dirty="0"/>
              <a:t>When to Create Indexes: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0" dirty="0"/>
              <a:t>Columns frequently used in </a:t>
            </a:r>
            <a:r>
              <a:rPr lang="en-US" sz="1100" dirty="0"/>
              <a:t>WHERE</a:t>
            </a:r>
            <a:r>
              <a:rPr lang="en-US" sz="1100" b="0" dirty="0"/>
              <a:t> clauses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0" dirty="0"/>
              <a:t>JOIN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0" dirty="0"/>
              <a:t>ORDER BY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0" dirty="0"/>
              <a:t>Columns with high selectivity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0" dirty="0"/>
              <a:t>Foreign key columns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5565F19-4AA6-3291-3545-5D1310856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248903B-9FF1-0044-4FE3-ABD17083F3FA}"/>
              </a:ext>
            </a:extLst>
          </p:cNvPr>
          <p:cNvSpPr txBox="1">
            <a:spLocks/>
          </p:cNvSpPr>
          <p:nvPr/>
        </p:nvSpPr>
        <p:spPr>
          <a:xfrm>
            <a:off x="5580374" y="2058991"/>
            <a:ext cx="5054098" cy="2513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When NOT to Create Indexes: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0" dirty="0"/>
              <a:t>Small tables (&lt; 1000 rows)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0" dirty="0"/>
              <a:t>Columns with low selectivity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0" dirty="0"/>
              <a:t>Frequently updated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0" dirty="0"/>
              <a:t>Tables with high INSERT/UPDATE activity</a:t>
            </a:r>
          </a:p>
        </p:txBody>
      </p:sp>
    </p:spTree>
    <p:extLst>
      <p:ext uri="{BB962C8B-B14F-4D97-AF65-F5344CB8AC3E}">
        <p14:creationId xmlns:p14="http://schemas.microsoft.com/office/powerpoint/2010/main" val="576382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>
            <a:normAutofit/>
          </a:bodyPr>
          <a:lstStyle/>
          <a:p>
            <a:r>
              <a:rPr lang="en-US" dirty="0"/>
              <a:t>Explain Plan</a:t>
            </a:r>
            <a:br>
              <a:rPr lang="en-US" dirty="0"/>
            </a:br>
            <a:br>
              <a:rPr lang="en-US" dirty="0"/>
            </a:br>
            <a:r>
              <a:rPr lang="en-US" sz="1100" dirty="0"/>
              <a:t>Is Oracle's query execution plan analyzer that shows </a:t>
            </a:r>
            <a:r>
              <a:rPr lang="en-US" sz="1100" b="1" dirty="0"/>
              <a:t>exactly how Oracle will execute your SQL statement</a:t>
            </a:r>
            <a:r>
              <a:rPr lang="en-US" sz="1100" dirty="0"/>
              <a:t> without actually running it</a:t>
            </a:r>
            <a:r>
              <a:rPr lang="en-US" dirty="0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r>
              <a:rPr lang="en-ID" dirty="0"/>
              <a:t>Why it matters</a:t>
            </a:r>
          </a:p>
          <a:p>
            <a:pPr lvl="1"/>
            <a:r>
              <a:rPr lang="en-US" dirty="0"/>
              <a:t>Shows the </a:t>
            </a:r>
            <a:r>
              <a:rPr lang="en-US" b="1" dirty="0"/>
              <a:t>cost</a:t>
            </a:r>
            <a:r>
              <a:rPr lang="en-US" dirty="0"/>
              <a:t> of operations (Oracle's estimate of resources needed)</a:t>
            </a:r>
          </a:p>
          <a:p>
            <a:pPr lvl="1"/>
            <a:r>
              <a:rPr lang="en-ID" dirty="0"/>
              <a:t>Reveals </a:t>
            </a:r>
            <a:r>
              <a:rPr lang="en-ID" b="1" dirty="0"/>
              <a:t>access paths</a:t>
            </a:r>
            <a:r>
              <a:rPr lang="en-ID" dirty="0"/>
              <a:t> (table scans vs index usage)</a:t>
            </a:r>
          </a:p>
          <a:p>
            <a:pPr lvl="1"/>
            <a:r>
              <a:rPr lang="en-US" dirty="0"/>
              <a:t>Identifies </a:t>
            </a:r>
            <a:r>
              <a:rPr lang="en-US" b="1" dirty="0"/>
              <a:t>join methods</a:t>
            </a:r>
            <a:r>
              <a:rPr lang="en-US" dirty="0"/>
              <a:t> and their efficiency</a:t>
            </a:r>
          </a:p>
          <a:p>
            <a:pPr lvl="1"/>
            <a:r>
              <a:rPr lang="en-ID" dirty="0"/>
              <a:t>Helps predict </a:t>
            </a:r>
            <a:r>
              <a:rPr lang="en-ID" b="1" dirty="0"/>
              <a:t>performance bottlenecks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0CAB1-8C92-FF85-35E2-75AC14D5D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7CCA4-FF3A-9F00-3D20-DA1B5141C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947792"/>
          </a:xfrm>
        </p:spPr>
        <p:txBody>
          <a:bodyPr>
            <a:normAutofit/>
          </a:bodyPr>
          <a:lstStyle/>
          <a:p>
            <a:r>
              <a:rPr lang="en-US" dirty="0" err="1"/>
              <a:t>hoW</a:t>
            </a:r>
            <a:r>
              <a:rPr lang="en-US" dirty="0"/>
              <a:t> TO Explain Plan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BE570A-9D51-7EDA-9CE9-15E20DA827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228725" y="2371725"/>
            <a:ext cx="4867275" cy="2114550"/>
          </a:xfr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ADF175C-060B-2CCD-9E16-D86E9AB5F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087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7B591-8324-5B83-E02E-AB5CDCC63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1DB25-9899-7C1C-F308-9B586AC74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>
            <a:normAutofit/>
          </a:bodyPr>
          <a:lstStyle/>
          <a:p>
            <a:r>
              <a:rPr lang="en-US" dirty="0"/>
              <a:t>Common anti pattern</a:t>
            </a:r>
            <a:br>
              <a:rPr lang="en-US" dirty="0"/>
            </a:br>
            <a:br>
              <a:rPr lang="en-US" dirty="0"/>
            </a:br>
            <a:r>
              <a:rPr lang="en-US" sz="1200" dirty="0"/>
              <a:t>An anti-pattern in </a:t>
            </a:r>
            <a:r>
              <a:rPr lang="en-US" sz="1200" dirty="0">
                <a:hlinkClick r:id="rId3" tooltip="Software engineer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software engineering</a:t>
            </a:r>
            <a:r>
              <a:rPr lang="en-US" sz="1200" dirty="0"/>
              <a:t>, </a:t>
            </a:r>
            <a:r>
              <a:rPr lang="en-US" sz="1200" dirty="0">
                <a:hlinkClick r:id="rId4" tooltip="Project manag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management</a:t>
            </a:r>
            <a:r>
              <a:rPr lang="en-US" sz="1200" dirty="0"/>
              <a:t>, and </a:t>
            </a:r>
            <a:r>
              <a:rPr lang="en-US" sz="1200" dirty="0">
                <a:hlinkClick r:id="rId5" tooltip="Business process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business processes</a:t>
            </a:r>
            <a:r>
              <a:rPr lang="en-US" sz="1200" dirty="0"/>
              <a:t> is a common response to a recurring problem that is usually ineffective and risks being highly counterproductive.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94A31-CE6E-0BA6-6867-0D44FC5D1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N+1 Query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SELECT * Anti-Pattern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Wildcard Search Anti-Patterns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JOIN Anti-Patterns</a:t>
            </a:r>
          </a:p>
          <a:p>
            <a:endParaRPr lang="en-ID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909C97E-75D5-32C1-3909-D864A1A9B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643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C5E94-3EC0-0C40-762F-344A9F684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31081-91D7-F042-65C8-4A7D919E8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>
            <a:normAutofit/>
          </a:bodyPr>
          <a:lstStyle/>
          <a:p>
            <a:r>
              <a:rPr lang="en-ID" dirty="0"/>
              <a:t>N+1 Query Problem</a:t>
            </a:r>
            <a:br>
              <a:rPr lang="en-US" dirty="0"/>
            </a:br>
            <a:br>
              <a:rPr lang="en-US" dirty="0"/>
            </a:br>
            <a:r>
              <a:rPr lang="en-ID" sz="1200" b="1" dirty="0"/>
              <a:t>Why it's genuinely bad:</a:t>
            </a:r>
            <a:br>
              <a:rPr lang="en-ID" sz="1200" b="1" dirty="0"/>
            </a:br>
            <a:br>
              <a:rPr lang="en-ID" sz="1200" b="1" dirty="0"/>
            </a:br>
            <a:r>
              <a:rPr lang="en-US" sz="1050" b="1" dirty="0"/>
              <a:t>Real performance impact</a:t>
            </a:r>
            <a:r>
              <a:rPr lang="en-US" sz="1050" dirty="0"/>
              <a:t>: 100x slower in production</a:t>
            </a:r>
            <a:br>
              <a:rPr lang="en-US" sz="1050" dirty="0"/>
            </a:br>
            <a:r>
              <a:rPr lang="en-US" sz="1050" b="1" dirty="0"/>
              <a:t>Network overhead</a:t>
            </a:r>
            <a:r>
              <a:rPr lang="en-US" sz="1050" dirty="0"/>
              <a:t>: Multiple round trips to database</a:t>
            </a:r>
            <a:br>
              <a:rPr lang="en-US" sz="1050" dirty="0"/>
            </a:br>
            <a:r>
              <a:rPr lang="en-US" sz="1050" b="1" dirty="0"/>
              <a:t>Connection exhaustion</a:t>
            </a:r>
            <a:r>
              <a:rPr lang="en-US" sz="1050" dirty="0"/>
              <a:t>: Can crash your application</a:t>
            </a:r>
            <a:br>
              <a:rPr lang="en-US" sz="1050" dirty="0"/>
            </a:br>
            <a:r>
              <a:rPr lang="en-US" sz="1050" b="1" dirty="0"/>
              <a:t>Resource waste</a:t>
            </a:r>
            <a:r>
              <a:rPr lang="en-US" sz="1050" dirty="0"/>
              <a:t>: Each query uses CPU, memory, locks</a:t>
            </a:r>
            <a:br>
              <a:rPr lang="en-US" sz="1200" dirty="0"/>
            </a:br>
            <a:endParaRPr lang="en-US" sz="1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810DA-84E6-247B-D266-6F8BF4C1C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18" y="2764938"/>
            <a:ext cx="7288212" cy="3407051"/>
          </a:xfrm>
        </p:spPr>
        <p:txBody>
          <a:bodyPr>
            <a:normAutofit/>
          </a:bodyPr>
          <a:lstStyle/>
          <a:p>
            <a:r>
              <a:rPr lang="en-US" dirty="0"/>
              <a:t>Don’t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</a:t>
            </a:r>
          </a:p>
          <a:p>
            <a:endParaRPr lang="en-ID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44AA32B-8D82-E48C-084E-EBAA24F5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C50775-B167-D95C-88F8-0288F67EE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598" y="2764938"/>
            <a:ext cx="6067425" cy="1657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4C754C-A1CE-1806-23A4-4B10A6EB5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9598" y="4505039"/>
            <a:ext cx="6067425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935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60E70-ECD9-E5DA-F0B2-F949D417A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91D67-10AE-5087-F3F2-09FE889E6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>
            <a:normAutofit/>
          </a:bodyPr>
          <a:lstStyle/>
          <a:p>
            <a:r>
              <a:rPr lang="en-ID" dirty="0"/>
              <a:t>SELECT * Anti-Pattern</a:t>
            </a:r>
            <a:br>
              <a:rPr lang="en-US" dirty="0"/>
            </a:br>
            <a:br>
              <a:rPr lang="en-US" dirty="0"/>
            </a:br>
            <a:r>
              <a:rPr lang="en-ID" sz="1200" b="1" dirty="0"/>
              <a:t>Why it's genuinely bad:</a:t>
            </a:r>
            <a:br>
              <a:rPr lang="en-ID" sz="1200" b="1" dirty="0"/>
            </a:br>
            <a:br>
              <a:rPr lang="en-ID" sz="1200" b="1" dirty="0"/>
            </a:br>
            <a:r>
              <a:rPr lang="en-US" sz="1050" b="1" dirty="0"/>
              <a:t>Network bandwidth</a:t>
            </a:r>
            <a:r>
              <a:rPr lang="en-US" sz="1050" dirty="0"/>
              <a:t>: 10MB vs 1MB data transfer</a:t>
            </a:r>
            <a:br>
              <a:rPr lang="en-US" sz="1050" dirty="0"/>
            </a:br>
            <a:r>
              <a:rPr lang="en-US" sz="1050" b="1" dirty="0"/>
              <a:t>Memory usage</a:t>
            </a:r>
            <a:r>
              <a:rPr lang="en-US" sz="1050" dirty="0"/>
              <a:t>: Application crashes from large result sets</a:t>
            </a:r>
            <a:br>
              <a:rPr lang="en-US" sz="1050" dirty="0"/>
            </a:br>
            <a:r>
              <a:rPr lang="en-US" sz="1050" b="1" dirty="0"/>
              <a:t>Security risk</a:t>
            </a:r>
            <a:r>
              <a:rPr lang="en-US" sz="1050" dirty="0"/>
              <a:t>: Exposing sensitive columns accidentally</a:t>
            </a:r>
            <a:br>
              <a:rPr lang="en-US" sz="1200" dirty="0"/>
            </a:br>
            <a:endParaRPr lang="en-US" sz="1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B1733-9AB8-CBA6-56FF-AD8DA9CD7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18" y="2764938"/>
            <a:ext cx="7288212" cy="3407051"/>
          </a:xfrm>
        </p:spPr>
        <p:txBody>
          <a:bodyPr>
            <a:normAutofit/>
          </a:bodyPr>
          <a:lstStyle/>
          <a:p>
            <a:r>
              <a:rPr lang="en-US" dirty="0"/>
              <a:t>Don’t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</a:t>
            </a:r>
          </a:p>
          <a:p>
            <a:endParaRPr lang="en-ID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65E6766-F454-0111-6929-79A38458F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09D08-C3E5-CF88-1B22-59BD28892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598" y="2764938"/>
            <a:ext cx="4857750" cy="11525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96210B-F6B1-CF14-FC1F-5D9B2368B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9598" y="4283720"/>
            <a:ext cx="4791075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522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888CD-DF40-9DA4-E00A-DAAD154B5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539A6-BD35-C20A-1AC6-F62666B40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>
            <a:normAutofit/>
          </a:bodyPr>
          <a:lstStyle/>
          <a:p>
            <a:r>
              <a:rPr lang="en-ID" dirty="0"/>
              <a:t>Wildcard Search Anti-Patterns</a:t>
            </a:r>
            <a:br>
              <a:rPr lang="en-US" dirty="0"/>
            </a:br>
            <a:br>
              <a:rPr lang="en-US" dirty="0"/>
            </a:br>
            <a:r>
              <a:rPr lang="en-ID" sz="1200" b="1" dirty="0"/>
              <a:t>Why it's genuinely bad:</a:t>
            </a:r>
            <a:br>
              <a:rPr lang="en-ID" sz="1200" b="1" dirty="0"/>
            </a:br>
            <a:br>
              <a:rPr lang="en-ID" sz="1200" b="1" dirty="0"/>
            </a:br>
            <a:r>
              <a:rPr lang="en-US" sz="1050" b="1" dirty="0"/>
              <a:t>Full table scan</a:t>
            </a:r>
            <a:r>
              <a:rPr lang="en-US" sz="1050" dirty="0"/>
              <a:t>: Oracle must check every row</a:t>
            </a:r>
            <a:br>
              <a:rPr lang="en-US" sz="1050" dirty="0"/>
            </a:br>
            <a:r>
              <a:rPr lang="en-US" sz="1050" b="1" dirty="0"/>
              <a:t>Index is useless</a:t>
            </a:r>
            <a:r>
              <a:rPr lang="en-US" sz="1050" dirty="0"/>
              <a:t>: Can't use B-tree indexes</a:t>
            </a:r>
            <a:br>
              <a:rPr lang="en-US" sz="1050" dirty="0"/>
            </a:br>
            <a:r>
              <a:rPr lang="en-US" sz="1050" b="1" dirty="0"/>
              <a:t>Performance degrades</a:t>
            </a:r>
            <a:r>
              <a:rPr lang="en-US" sz="1050" dirty="0"/>
              <a:t>: Gets worse as table grows</a:t>
            </a:r>
            <a:br>
              <a:rPr lang="en-US" sz="1200" dirty="0"/>
            </a:br>
            <a:endParaRPr lang="en-US" sz="1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32ED5-A8D8-A9A1-64F8-F97E792523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18" y="2764938"/>
            <a:ext cx="7288212" cy="3407051"/>
          </a:xfrm>
        </p:spPr>
        <p:txBody>
          <a:bodyPr>
            <a:normAutofit/>
          </a:bodyPr>
          <a:lstStyle/>
          <a:p>
            <a:r>
              <a:rPr lang="en-US" dirty="0"/>
              <a:t>Don’t				Do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EB790A0-A1DF-25F3-118B-351A26B0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3E4B07-3B6B-72C3-D24E-F5ED802F4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318" y="3199049"/>
            <a:ext cx="2518122" cy="21211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534FE2-C561-6E09-2EC9-3C048C211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555" y="3199049"/>
            <a:ext cx="3804255" cy="178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18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67406-EBA0-28D1-1933-B7B13FF1C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E810D-C281-C02D-E04C-8CAE48F72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>
            <a:normAutofit fontScale="90000"/>
          </a:bodyPr>
          <a:lstStyle/>
          <a:p>
            <a:r>
              <a:rPr lang="en-ID" dirty="0"/>
              <a:t>JOIN Anti-Patterns</a:t>
            </a:r>
            <a:br>
              <a:rPr lang="en-US" dirty="0"/>
            </a:br>
            <a:br>
              <a:rPr lang="en-US" dirty="0"/>
            </a:br>
            <a:r>
              <a:rPr lang="en-ID" sz="1200" b="1" dirty="0"/>
              <a:t>Why it's genuinely bad:</a:t>
            </a:r>
            <a:br>
              <a:rPr lang="en-ID" sz="1200" b="1" dirty="0"/>
            </a:br>
            <a:br>
              <a:rPr lang="en-ID" sz="1200" b="1" dirty="0"/>
            </a:br>
            <a:r>
              <a:rPr lang="en-US" sz="1050" b="1" dirty="0"/>
              <a:t>Explosive result set</a:t>
            </a:r>
            <a:r>
              <a:rPr lang="en-US" sz="1050" dirty="0"/>
              <a:t>: If you have 1,000 employees and 10 departments, you get </a:t>
            </a:r>
            <a:r>
              <a:rPr lang="en-US" sz="1050" b="1" dirty="0"/>
              <a:t>10,000 rows instead of 1,000</a:t>
            </a:r>
            <a:br>
              <a:rPr lang="en-US" sz="1050" dirty="0"/>
            </a:br>
            <a:r>
              <a:rPr lang="en-US" sz="1050" b="1" dirty="0"/>
              <a:t>Memory exhaustion</a:t>
            </a:r>
            <a:r>
              <a:rPr lang="en-US" sz="1050" dirty="0"/>
              <a:t>: Application can crash from massive result sets</a:t>
            </a:r>
            <a:br>
              <a:rPr lang="en-US" sz="1050" dirty="0"/>
            </a:br>
            <a:r>
              <a:rPr lang="en-US" sz="1050" b="1" dirty="0"/>
              <a:t>Network overload</a:t>
            </a:r>
            <a:r>
              <a:rPr lang="en-US" sz="1050" dirty="0"/>
              <a:t>: Transfers gigabytes of duplicate data</a:t>
            </a:r>
            <a:br>
              <a:rPr lang="en-US" sz="1050" dirty="0"/>
            </a:br>
            <a:r>
              <a:rPr lang="en-US" sz="1050" b="1" dirty="0"/>
              <a:t>Performance killer</a:t>
            </a:r>
            <a:r>
              <a:rPr lang="en-US" sz="1050" dirty="0"/>
              <a:t>: Query time grows exponentially</a:t>
            </a:r>
            <a:br>
              <a:rPr lang="en-US" sz="1050" dirty="0"/>
            </a:br>
            <a:r>
              <a:rPr lang="en-US" sz="1050" b="1" dirty="0"/>
              <a:t>Wrong business logic</a:t>
            </a:r>
            <a:r>
              <a:rPr lang="en-US" sz="1050" dirty="0"/>
              <a:t>: Shows incorrect relationships</a:t>
            </a:r>
            <a:br>
              <a:rPr lang="en-US" sz="1200" dirty="0"/>
            </a:br>
            <a:endParaRPr lang="en-US" sz="1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27655-5CBF-1AD3-E450-400633A1A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18" y="2764938"/>
            <a:ext cx="7288212" cy="3407051"/>
          </a:xfrm>
        </p:spPr>
        <p:txBody>
          <a:bodyPr>
            <a:normAutofit/>
          </a:bodyPr>
          <a:lstStyle/>
          <a:p>
            <a:r>
              <a:rPr lang="en-US" dirty="0"/>
              <a:t>Don’t				Do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F78B9CB-0BA1-958B-27C7-5005B4DB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36545F-6E3B-EECE-46BE-F0C50E115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409" y="3151979"/>
            <a:ext cx="3388416" cy="17844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585E9D-A73C-70C6-23EB-3A4C7352E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452" y="3151979"/>
            <a:ext cx="3388416" cy="192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94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3325D-22FF-A406-4CD2-C5E5E58B8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40363-5454-D067-1D3E-F6754B5E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947792"/>
          </a:xfrm>
        </p:spPr>
        <p:txBody>
          <a:bodyPr>
            <a:normAutofit/>
          </a:bodyPr>
          <a:lstStyle/>
          <a:p>
            <a:r>
              <a:rPr lang="en-US" dirty="0"/>
              <a:t>Performance difference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76F41F9-57BF-5787-A48A-2781BA9D7A2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25862147"/>
              </p:ext>
            </p:extLst>
          </p:nvPr>
        </p:nvGraphicFramePr>
        <p:xfrm>
          <a:off x="1273035" y="1856232"/>
          <a:ext cx="9329837" cy="271577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1587678">
                  <a:extLst>
                    <a:ext uri="{9D8B030D-6E8A-4147-A177-3AD203B41FA5}">
                      <a16:colId xmlns:a16="http://schemas.microsoft.com/office/drawing/2014/main" val="2498913301"/>
                    </a:ext>
                  </a:extLst>
                </a:gridCol>
                <a:gridCol w="1141701">
                  <a:extLst>
                    <a:ext uri="{9D8B030D-6E8A-4147-A177-3AD203B41FA5}">
                      <a16:colId xmlns:a16="http://schemas.microsoft.com/office/drawing/2014/main" val="1560358028"/>
                    </a:ext>
                  </a:extLst>
                </a:gridCol>
                <a:gridCol w="1266574">
                  <a:extLst>
                    <a:ext uri="{9D8B030D-6E8A-4147-A177-3AD203B41FA5}">
                      <a16:colId xmlns:a16="http://schemas.microsoft.com/office/drawing/2014/main" val="835917455"/>
                    </a:ext>
                  </a:extLst>
                </a:gridCol>
                <a:gridCol w="1284414">
                  <a:extLst>
                    <a:ext uri="{9D8B030D-6E8A-4147-A177-3AD203B41FA5}">
                      <a16:colId xmlns:a16="http://schemas.microsoft.com/office/drawing/2014/main" val="1785234757"/>
                    </a:ext>
                  </a:extLst>
                </a:gridCol>
                <a:gridCol w="2283402">
                  <a:extLst>
                    <a:ext uri="{9D8B030D-6E8A-4147-A177-3AD203B41FA5}">
                      <a16:colId xmlns:a16="http://schemas.microsoft.com/office/drawing/2014/main" val="2664415858"/>
                    </a:ext>
                  </a:extLst>
                </a:gridCol>
                <a:gridCol w="1766068">
                  <a:extLst>
                    <a:ext uri="{9D8B030D-6E8A-4147-A177-3AD203B41FA5}">
                      <a16:colId xmlns:a16="http://schemas.microsoft.com/office/drawing/2014/main" val="4012373890"/>
                    </a:ext>
                  </a:extLst>
                </a:gridCol>
              </a:tblGrid>
              <a:tr h="543154"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u="none" strike="noStrike" dirty="0">
                          <a:effectLst/>
                        </a:rPr>
                        <a:t>Anti-Pattern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u="none" strike="noStrike">
                          <a:effectLst/>
                        </a:rPr>
                        <a:t>Time Before</a:t>
                      </a:r>
                      <a:endParaRPr lang="en-ID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u="none" strike="noStrike" dirty="0">
                          <a:effectLst/>
                        </a:rPr>
                        <a:t>Time After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u="none" strike="noStrike">
                          <a:effectLst/>
                        </a:rPr>
                        <a:t>Improvement</a:t>
                      </a:r>
                      <a:endParaRPr lang="en-ID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u="none" strike="noStrike">
                          <a:effectLst/>
                        </a:rPr>
                        <a:t>Rows Processed</a:t>
                      </a:r>
                      <a:endParaRPr lang="en-ID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u="none" strike="noStrike" dirty="0">
                          <a:effectLst/>
                        </a:rPr>
                        <a:t>Key Metric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extLst>
                  <a:ext uri="{0D108BD9-81ED-4DB2-BD59-A6C34878D82A}">
                    <a16:rowId xmlns:a16="http://schemas.microsoft.com/office/drawing/2014/main" val="1663692441"/>
                  </a:ext>
                </a:extLst>
              </a:tr>
              <a:tr h="543154"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>
                          <a:effectLst/>
                        </a:rPr>
                        <a:t>N+1 Queries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>
                          <a:effectLst/>
                        </a:rPr>
                        <a:t>2.5 sec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 dirty="0">
                          <a:effectLst/>
                        </a:rPr>
                        <a:t>0.08 sec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>
                          <a:effectLst/>
                        </a:rPr>
                        <a:t>31x faster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>
                          <a:effectLst/>
                        </a:rPr>
                        <a:t>11 queries → 1 query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>
                          <a:effectLst/>
                        </a:rPr>
                        <a:t>Network round trips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extLst>
                  <a:ext uri="{0D108BD9-81ED-4DB2-BD59-A6C34878D82A}">
                    <a16:rowId xmlns:a16="http://schemas.microsoft.com/office/drawing/2014/main" val="1701555565"/>
                  </a:ext>
                </a:extLst>
              </a:tr>
              <a:tr h="543154"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>
                          <a:effectLst/>
                        </a:rPr>
                        <a:t>**SELECT ***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>
                          <a:effectLst/>
                        </a:rPr>
                        <a:t>0.45 sec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>
                          <a:effectLst/>
                        </a:rPr>
                        <a:t>0.12 sec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 dirty="0">
                          <a:effectLst/>
                        </a:rPr>
                        <a:t>3.8x faster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>
                          <a:effectLst/>
                        </a:rPr>
                        <a:t>50KB → 12KB data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>
                          <a:effectLst/>
                        </a:rPr>
                        <a:t>Data transfer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extLst>
                  <a:ext uri="{0D108BD9-81ED-4DB2-BD59-A6C34878D82A}">
                    <a16:rowId xmlns:a16="http://schemas.microsoft.com/office/drawing/2014/main" val="2293618913"/>
                  </a:ext>
                </a:extLst>
              </a:tr>
              <a:tr h="543154"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>
                          <a:effectLst/>
                        </a:rPr>
                        <a:t>Leading Wildcard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>
                          <a:effectLst/>
                        </a:rPr>
                        <a:t>0.8 sec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>
                          <a:effectLst/>
                        </a:rPr>
                        <a:t>0.02 sec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>
                          <a:effectLst/>
                        </a:rPr>
                        <a:t>40x faster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>
                          <a:effectLst/>
                        </a:rPr>
                        <a:t>200 rows → 15 rows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>
                          <a:effectLst/>
                        </a:rPr>
                        <a:t>Full scan vs Index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extLst>
                  <a:ext uri="{0D108BD9-81ED-4DB2-BD59-A6C34878D82A}">
                    <a16:rowId xmlns:a16="http://schemas.microsoft.com/office/drawing/2014/main" val="3532629571"/>
                  </a:ext>
                </a:extLst>
              </a:tr>
              <a:tr h="543154"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>
                          <a:effectLst/>
                        </a:rPr>
                        <a:t>Cartesian JOIN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>
                          <a:effectLst/>
                        </a:rPr>
                        <a:t>15 sec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>
                          <a:effectLst/>
                        </a:rPr>
                        <a:t>0.15 sec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>
                          <a:effectLst/>
                        </a:rPr>
                        <a:t>100x faster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 dirty="0">
                          <a:effectLst/>
                        </a:rPr>
                        <a:t>2000 rows → 200 rows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u="none" strike="noStrike" dirty="0">
                          <a:effectLst/>
                        </a:rPr>
                        <a:t>Result set size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675" marR="10675" marT="10675" marB="0" anchor="b"/>
                </a:tc>
                <a:extLst>
                  <a:ext uri="{0D108BD9-81ED-4DB2-BD59-A6C34878D82A}">
                    <a16:rowId xmlns:a16="http://schemas.microsoft.com/office/drawing/2014/main" val="3546391410"/>
                  </a:ext>
                </a:extLst>
              </a:tr>
            </a:tbl>
          </a:graphicData>
        </a:graphic>
      </p:graphicFrame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5F50569-65EC-22A1-A5BA-77E5F2787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739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508" y="2766218"/>
            <a:ext cx="289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Q/A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FA5E-469B-2BFC-9D4E-BD1EC6E4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680"/>
            <a:ext cx="4179570" cy="337669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16" name="Picture Placeholder 15" descr="A person stretching in a gym">
            <a:extLst>
              <a:ext uri="{FF2B5EF4-FFF2-40B4-BE49-F238E27FC236}">
                <a16:creationId xmlns:a16="http://schemas.microsoft.com/office/drawing/2014/main" id="{448EF356-1822-E2AE-2794-322870D4C22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44" r="44"/>
          <a:stretch/>
        </p:blipFill>
        <p:spPr>
          <a:xfrm>
            <a:off x="0" y="-5080"/>
            <a:ext cx="6576291" cy="6872605"/>
          </a:xfr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</TotalTime>
  <Words>492</Words>
  <Application>Microsoft Office PowerPoint</Application>
  <PresentationFormat>Widescreen</PresentationFormat>
  <Paragraphs>108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Custom</vt:lpstr>
      <vt:lpstr>Performance Optimization (database query)</vt:lpstr>
      <vt:lpstr>PowerPoint Presentation</vt:lpstr>
      <vt:lpstr>Index creation decision</vt:lpstr>
      <vt:lpstr>Explain Plan  Is Oracle's query execution plan analyzer that shows exactly how Oracle will execute your SQL statement without actually running it.</vt:lpstr>
      <vt:lpstr>hoW TO Explain Plan</vt:lpstr>
      <vt:lpstr>Common anti pattern  An anti-pattern in software engineering, project management, and business processes is a common response to a recurring problem that is usually ineffective and risks being highly counterproductive.</vt:lpstr>
      <vt:lpstr>N+1 Query Problem  Why it's genuinely bad:  Real performance impact: 100x slower in production Network overhead: Multiple round trips to database Connection exhaustion: Can crash your application Resource waste: Each query uses CPU, memory, locks </vt:lpstr>
      <vt:lpstr>SELECT * Anti-Pattern  Why it's genuinely bad:  Network bandwidth: 10MB vs 1MB data transfer Memory usage: Application crashes from large result sets Security risk: Exposing sensitive columns accidentally </vt:lpstr>
      <vt:lpstr>Wildcard Search Anti-Patterns  Why it's genuinely bad:  Full table scan: Oracle must check every row Index is useless: Can't use B-tree indexes Performance degrades: Gets worse as table grows </vt:lpstr>
      <vt:lpstr>JOIN Anti-Patterns  Why it's genuinely bad:  Explosive result set: If you have 1,000 employees and 10 departments, you get 10,000 rows instead of 1,000 Memory exhaustion: Application can crash from massive result sets Network overload: Transfers gigabytes of duplicate data Performance killer: Query time grows exponentially Wrong business logic: Shows incorrect relationships </vt:lpstr>
      <vt:lpstr>Performance difference</vt:lpstr>
      <vt:lpstr>Q/A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cp:lastModifiedBy>Aji Suseno</cp:lastModifiedBy>
  <cp:revision>3</cp:revision>
  <dcterms:created xsi:type="dcterms:W3CDTF">2024-02-14T19:04:18Z</dcterms:created>
  <dcterms:modified xsi:type="dcterms:W3CDTF">2025-06-30T17:57:55Z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